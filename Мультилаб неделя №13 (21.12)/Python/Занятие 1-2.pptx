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7" r:id="rId2"/>
    <p:sldId id="268" r:id="rId3"/>
    <p:sldId id="269" r:id="rId4"/>
    <p:sldId id="270" r:id="rId5"/>
    <p:sldId id="271" r:id="rId6"/>
    <p:sldId id="272" r:id="rId7"/>
    <p:sldId id="273" r:id="rId8"/>
    <p:sldId id="274" r:id="rId9"/>
    <p:sldId id="275" r:id="rId10"/>
    <p:sldId id="276" r:id="rId11"/>
    <p:sldId id="277" r:id="rId12"/>
    <p:sldId id="280" r:id="rId13"/>
    <p:sldId id="281" r:id="rId14"/>
    <p:sldId id="278" r:id="rId15"/>
    <p:sldId id="282" r:id="rId16"/>
    <p:sldId id="279" r:id="rId17"/>
    <p:sldId id="283" r:id="rId18"/>
    <p:sldId id="284" r:id="rId19"/>
    <p:sldId id="285" r:id="rId20"/>
    <p:sldId id="286" r:id="rId21"/>
    <p:sldId id="287" r:id="rId22"/>
    <p:sldId id="288" r:id="rId23"/>
    <p:sldId id="289" r:id="rId24"/>
    <p:sldId id="290" r:id="rId25"/>
    <p:sldId id="291" r:id="rId26"/>
    <p:sldId id="292" r:id="rId2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6CD9BF3-0315-4502-936C-1E88DEA68B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589201E2-405D-442E-9C09-7A1306AFE2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8C2C5C4-00D6-4AD8-AB1D-BBB775752F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E9B94-2D0D-48D5-8F5E-C2B184734531}" type="datetimeFigureOut">
              <a:rPr lang="ru-RU" smtClean="0"/>
              <a:t>21.12.2025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0F18B66-723C-4018-80FA-4CBD71BE15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41774F0-AEBB-4518-A198-5D79A79203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90CE5-2352-4553-8596-8B7EECE357D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22902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158A722-A300-4681-8CF6-B05699B0EF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9390CDE-FC42-4C9D-BD17-00620FB69C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2DDBBC2-CE4C-454C-B61C-2B81E04994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E9B94-2D0D-48D5-8F5E-C2B184734531}" type="datetimeFigureOut">
              <a:rPr lang="ru-RU" smtClean="0"/>
              <a:t>21.12.2025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5330117-C7CD-4E59-8F75-F828605F79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21E9493-0C13-4814-B80A-D05E80382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90CE5-2352-4553-8596-8B7EECE357D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264502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48F600F-C392-4747-AF18-401AE0542C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625F459-5F4F-4AF9-AA9C-3A2D8A4905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376976E-4B48-49A6-A6C6-7C637AD07B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E9B94-2D0D-48D5-8F5E-C2B184734531}" type="datetimeFigureOut">
              <a:rPr lang="ru-RU" smtClean="0"/>
              <a:t>21.12.2025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87F6C8D-2543-4A34-9569-98661BE1CE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104DBB7-65C9-4C13-AB4F-C6D322BDC3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90CE5-2352-4553-8596-8B7EECE357D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823077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EF271A1-6F10-41B8-B822-34E732543B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777B0A3-B17C-4454-BF20-6236EC0CD4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2DC230CB-F279-4EAA-A4CA-2169277D25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C2AC9B7-54B9-45C7-BA49-BDB59E645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E9B94-2D0D-48D5-8F5E-C2B184734531}" type="datetimeFigureOut">
              <a:rPr lang="ru-RU" smtClean="0"/>
              <a:t>21.12.2025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45ACEF1-45FD-4A08-868A-E59988C74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9AE714E-A0CD-4F4E-9954-FCD209941E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90CE5-2352-4553-8596-8B7EECE357D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809517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E441BD3-F5A2-4EC4-81F9-6DEA812EA1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5C69053-E98C-4539-B5CF-7FF796FEAB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8DEDA15B-8630-48F5-AC63-56333FC48E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B4DD151C-C337-42C8-AADE-6D904696A14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1609CE05-4EAF-47A8-A012-7B29726DD1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98F00E7B-307A-4638-848C-5AE3549A0F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E9B94-2D0D-48D5-8F5E-C2B184734531}" type="datetimeFigureOut">
              <a:rPr lang="ru-RU" smtClean="0"/>
              <a:t>21.12.2025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ED5FF7CC-DD33-4D08-A224-342148EC79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2607CA63-6B23-48D7-B114-4A05256C2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90CE5-2352-4553-8596-8B7EECE357D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399430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68C7CEB-3819-4E9B-87A0-74E68F5C9A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96DC6B24-883D-40EA-83D5-1EB8056336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E9B94-2D0D-48D5-8F5E-C2B184734531}" type="datetimeFigureOut">
              <a:rPr lang="ru-RU" smtClean="0"/>
              <a:t>21.12.2025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C725C8E5-3278-4899-941C-1ECA2D0746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5491476E-567E-4317-BE4E-03615F0683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90CE5-2352-4553-8596-8B7EECE357D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934861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C8E6548D-7532-4E74-AC7D-96C27A4BEA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E9B94-2D0D-48D5-8F5E-C2B184734531}" type="datetimeFigureOut">
              <a:rPr lang="ru-RU" smtClean="0"/>
              <a:t>21.12.2025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1AE7021E-7B41-4E99-B16E-E4EAF8FB11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AF1EE5C-EB4A-44BA-8671-C07A635A6E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90CE5-2352-4553-8596-8B7EECE357D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662683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0FC61DD-9AD0-4555-9033-0E72463777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69B4C9D-C63A-4E08-8AFA-370E4B605C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D4AF185-4F49-49A2-80CF-ED274E5AA6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D7AAE57-C4CF-4E3B-A9AD-7C3C8CC58B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E9B94-2D0D-48D5-8F5E-C2B184734531}" type="datetimeFigureOut">
              <a:rPr lang="ru-RU" smtClean="0"/>
              <a:t>21.12.2025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97702EE-9882-4285-9155-23A003B012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8C88049-FE6D-4C05-86CC-072F1AD946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90CE5-2352-4553-8596-8B7EECE357D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403889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A3E6789-1D66-4483-B900-C90C44D47B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61DB2BC9-B710-46C7-B765-8C7D2B644EF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C309D4D-85AD-4A22-B01D-0B1D30FF7C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6129435-7297-4C4F-8F90-44B3ABAEFF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E9B94-2D0D-48D5-8F5E-C2B184734531}" type="datetimeFigureOut">
              <a:rPr lang="ru-RU" smtClean="0"/>
              <a:t>21.12.2025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AFBDA6A-4E71-4D78-8952-7814E95948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AE737E9-7093-43A2-BB83-74F18B3732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90CE5-2352-4553-8596-8B7EECE357D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972372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A2B9E3A-2E3A-422C-9D3E-43C83F36C9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E49EFCAF-D20B-4F2A-9380-294EFB9223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5D70236-D875-4A4A-AB4B-2C12D1F22C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E9B94-2D0D-48D5-8F5E-C2B184734531}" type="datetimeFigureOut">
              <a:rPr lang="ru-RU" smtClean="0"/>
              <a:t>21.12.2025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91DED98-51A2-4314-84DF-DBE10793DD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B5A3500-3F6D-4F1B-BE23-30BB36E4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90CE5-2352-4553-8596-8B7EECE357D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620638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B9B46986-C5C3-4F36-AD73-D5140893ACC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53D05C47-6B62-4CD9-90F6-1EC57C47BF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7B8419C-199F-4903-B5E4-5B69312677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E9B94-2D0D-48D5-8F5E-C2B184734531}" type="datetimeFigureOut">
              <a:rPr lang="ru-RU" smtClean="0"/>
              <a:t>21.12.2025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F603C89-5376-4766-87B6-A0AE7CEC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A48CA85-7985-47B8-9838-3C1A2D7FBB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90CE5-2352-4553-8596-8B7EECE357D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255354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3EBCE56-1E38-4F6A-9251-F7C02E91B6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178DD79-82B7-4190-B186-E67B1CD10D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4CBA4F9-ADC9-4630-9C39-77DF32C7BD8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EE9B94-2D0D-48D5-8F5E-C2B184734531}" type="datetimeFigureOut">
              <a:rPr lang="ru-RU" smtClean="0"/>
              <a:t>21.12.2025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2656016-9A56-4320-8954-632287027B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DB88FF3-37F0-4323-BB97-440D614D621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490CE5-2352-4553-8596-8B7EECE357D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865454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E2CADC2-C69B-4B1B-9C7C-2E50A7E471BE}"/>
              </a:ext>
            </a:extLst>
          </p:cNvPr>
          <p:cNvSpPr txBox="1"/>
          <p:nvPr/>
        </p:nvSpPr>
        <p:spPr>
          <a:xfrm>
            <a:off x="945214" y="665822"/>
            <a:ext cx="8957568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AutoNum type="arabicParenR"/>
            </a:pPr>
            <a:r>
              <a:rPr lang="ru-RU" sz="2800" b="1" dirty="0"/>
              <a:t>Что такое список</a:t>
            </a:r>
          </a:p>
          <a:p>
            <a:r>
              <a:rPr lang="ru-RU" sz="2800" b="1" dirty="0">
                <a:solidFill>
                  <a:schemeClr val="accent2"/>
                </a:solidFill>
              </a:rPr>
              <a:t>Список (</a:t>
            </a:r>
            <a:r>
              <a:rPr lang="ru-RU" sz="2800" b="1" dirty="0" err="1">
                <a:solidFill>
                  <a:schemeClr val="accent2"/>
                </a:solidFill>
              </a:rPr>
              <a:t>list</a:t>
            </a:r>
            <a:r>
              <a:rPr lang="ru-RU" sz="2800" b="1" dirty="0">
                <a:solidFill>
                  <a:schemeClr val="accent2"/>
                </a:solidFill>
              </a:rPr>
              <a:t>) </a:t>
            </a:r>
            <a:r>
              <a:rPr lang="ru-RU" sz="2800" b="1" dirty="0"/>
              <a:t>— упорядоченная изменяемая коллекция элементов.</a:t>
            </a:r>
          </a:p>
          <a:p>
            <a:r>
              <a:rPr lang="ru-RU" sz="2800" b="1" dirty="0">
                <a:solidFill>
                  <a:schemeClr val="accent2"/>
                </a:solidFill>
              </a:rPr>
              <a:t>Хранит любые типы (желательно однотипные на практике).</a:t>
            </a:r>
          </a:p>
        </p:txBody>
      </p:sp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8EB34C02-EDDD-4298-8918-8CF7022D8B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9633" y="3330976"/>
            <a:ext cx="3903292" cy="1844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32671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E2CADC2-C69B-4B1B-9C7C-2E50A7E471BE}"/>
              </a:ext>
            </a:extLst>
          </p:cNvPr>
          <p:cNvSpPr txBox="1"/>
          <p:nvPr/>
        </p:nvSpPr>
        <p:spPr>
          <a:xfrm>
            <a:off x="536841" y="656944"/>
            <a:ext cx="89575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>
                <a:solidFill>
                  <a:schemeClr val="accent2"/>
                </a:solidFill>
              </a:rPr>
              <a:t>2) Создание списков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48EFDBA9-D793-44BE-B442-BC2611B4D1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766" y="1606540"/>
            <a:ext cx="8124555" cy="1822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91146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E2CADC2-C69B-4B1B-9C7C-2E50A7E471BE}"/>
              </a:ext>
            </a:extLst>
          </p:cNvPr>
          <p:cNvSpPr txBox="1"/>
          <p:nvPr/>
        </p:nvSpPr>
        <p:spPr>
          <a:xfrm>
            <a:off x="945214" y="665822"/>
            <a:ext cx="8957568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/>
              <a:t>3) Индексы и срезы</a:t>
            </a:r>
          </a:p>
          <a:p>
            <a:pPr marL="514350" indent="-514350">
              <a:buAutoNum type="arabicParenR"/>
            </a:pPr>
            <a:endParaRPr lang="ru-RU" sz="2800" b="1" dirty="0"/>
          </a:p>
          <a:p>
            <a:r>
              <a:rPr lang="ru-RU" sz="2800" b="1" dirty="0">
                <a:solidFill>
                  <a:schemeClr val="accent2"/>
                </a:solidFill>
              </a:rPr>
              <a:t>Индексы от 0 до </a:t>
            </a:r>
            <a:r>
              <a:rPr lang="ru-RU" sz="2800" b="1" dirty="0" err="1">
                <a:solidFill>
                  <a:schemeClr val="accent2"/>
                </a:solidFill>
              </a:rPr>
              <a:t>len</a:t>
            </a:r>
            <a:r>
              <a:rPr lang="ru-RU" sz="2800" b="1" dirty="0">
                <a:solidFill>
                  <a:schemeClr val="accent2"/>
                </a:solidFill>
              </a:rPr>
              <a:t>(a)-1</a:t>
            </a:r>
            <a:r>
              <a:rPr lang="ru-RU" sz="2800" b="1" dirty="0"/>
              <a:t>. Отрицательные — с конца (-1 — последний).</a:t>
            </a:r>
          </a:p>
          <a:p>
            <a:pPr marL="514350" indent="-514350">
              <a:buAutoNum type="arabicParenR"/>
            </a:pPr>
            <a:endParaRPr lang="ru-RU" sz="2800" b="1" dirty="0"/>
          </a:p>
          <a:p>
            <a:r>
              <a:rPr lang="ru-RU" sz="2800" b="1" dirty="0">
                <a:solidFill>
                  <a:schemeClr val="accent2"/>
                </a:solidFill>
              </a:rPr>
              <a:t>Срез a[</a:t>
            </a:r>
            <a:r>
              <a:rPr lang="ru-RU" sz="2800" b="1" dirty="0" err="1">
                <a:solidFill>
                  <a:schemeClr val="accent2"/>
                </a:solidFill>
              </a:rPr>
              <a:t>start:stop:step</a:t>
            </a:r>
            <a:r>
              <a:rPr lang="ru-RU" sz="2800" b="1" dirty="0">
                <a:solidFill>
                  <a:schemeClr val="accent2"/>
                </a:solidFill>
              </a:rPr>
              <a:t>] не включает </a:t>
            </a:r>
            <a:r>
              <a:rPr lang="ru-RU" sz="2800" b="1" dirty="0" err="1">
                <a:solidFill>
                  <a:schemeClr val="accent2"/>
                </a:solidFill>
              </a:rPr>
              <a:t>stop</a:t>
            </a:r>
            <a:r>
              <a:rPr lang="ru-RU" sz="2800" b="1" dirty="0">
                <a:solidFill>
                  <a:schemeClr val="accent2"/>
                </a:solidFill>
              </a:rPr>
              <a:t>.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828828A3-32D2-4298-92FE-C84BF3984D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9084" y="3514523"/>
            <a:ext cx="5166128" cy="2596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19462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E2CADC2-C69B-4B1B-9C7C-2E50A7E471BE}"/>
              </a:ext>
            </a:extLst>
          </p:cNvPr>
          <p:cNvSpPr txBox="1"/>
          <p:nvPr/>
        </p:nvSpPr>
        <p:spPr>
          <a:xfrm>
            <a:off x="945214" y="665822"/>
            <a:ext cx="8957568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/>
              <a:t>4) </a:t>
            </a:r>
            <a:r>
              <a:rPr lang="ru-RU" sz="2800" b="1" dirty="0">
                <a:solidFill>
                  <a:schemeClr val="accent2"/>
                </a:solidFill>
              </a:rPr>
              <a:t>Изменяемость и копирование</a:t>
            </a:r>
          </a:p>
          <a:p>
            <a:r>
              <a:rPr lang="ru-RU" sz="2800" dirty="0"/>
              <a:t>Списки </a:t>
            </a:r>
            <a:r>
              <a:rPr lang="ru-RU" sz="2800" b="1" dirty="0"/>
              <a:t>изменяемые</a:t>
            </a:r>
            <a:r>
              <a:rPr lang="ru-RU" sz="2800" dirty="0"/>
              <a:t>: операции меняют объект на месте.</a:t>
            </a:r>
          </a:p>
          <a:p>
            <a:r>
              <a:rPr lang="ru-RU" sz="2800" dirty="0"/>
              <a:t>Простое присваивание делает </a:t>
            </a:r>
            <a:r>
              <a:rPr lang="ru-RU" sz="2800" b="1" dirty="0"/>
              <a:t>две ссылки на один объект</a:t>
            </a:r>
            <a:r>
              <a:rPr lang="ru-RU" sz="2800" dirty="0"/>
              <a:t>.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E767BC21-9CCD-41C1-932C-B2456D7F88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0610" y="2917674"/>
            <a:ext cx="5153579" cy="2094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34286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E2CADC2-C69B-4B1B-9C7C-2E50A7E471BE}"/>
              </a:ext>
            </a:extLst>
          </p:cNvPr>
          <p:cNvSpPr txBox="1"/>
          <p:nvPr/>
        </p:nvSpPr>
        <p:spPr>
          <a:xfrm>
            <a:off x="1176033" y="878886"/>
            <a:ext cx="89575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>
                <a:solidFill>
                  <a:schemeClr val="accent2"/>
                </a:solidFill>
              </a:rPr>
              <a:t>Как скопировать: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AE6282F9-25AC-4C0F-956D-FA840D6BB8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2332" y="2214614"/>
            <a:ext cx="5320938" cy="1856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48173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E2CADC2-C69B-4B1B-9C7C-2E50A7E471BE}"/>
              </a:ext>
            </a:extLst>
          </p:cNvPr>
          <p:cNvSpPr txBox="1"/>
          <p:nvPr/>
        </p:nvSpPr>
        <p:spPr>
          <a:xfrm>
            <a:off x="945214" y="665822"/>
            <a:ext cx="89575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>
                <a:solidFill>
                  <a:schemeClr val="accent2"/>
                </a:solidFill>
              </a:rPr>
              <a:t>5) Добавление/удаление элементов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72D547C6-89AB-450A-93D1-CD5EFF9472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4668" y="1709497"/>
            <a:ext cx="8595250" cy="4309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40572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E2CADC2-C69B-4B1B-9C7C-2E50A7E471BE}"/>
              </a:ext>
            </a:extLst>
          </p:cNvPr>
          <p:cNvSpPr txBox="1"/>
          <p:nvPr/>
        </p:nvSpPr>
        <p:spPr>
          <a:xfrm>
            <a:off x="945214" y="665822"/>
            <a:ext cx="89575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>
                <a:solidFill>
                  <a:schemeClr val="accent2"/>
                </a:solidFill>
              </a:rPr>
              <a:t>6) Поиск и проверка наличия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3F28DFE0-ED09-4CBD-AFAF-F8A4FEFBDC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0241" y="2155435"/>
            <a:ext cx="10318337" cy="1821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68921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E2CADC2-C69B-4B1B-9C7C-2E50A7E471BE}"/>
              </a:ext>
            </a:extLst>
          </p:cNvPr>
          <p:cNvSpPr txBox="1"/>
          <p:nvPr/>
        </p:nvSpPr>
        <p:spPr>
          <a:xfrm>
            <a:off x="945214" y="665822"/>
            <a:ext cx="89575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>
                <a:solidFill>
                  <a:schemeClr val="accent2"/>
                </a:solidFill>
              </a:rPr>
              <a:t>7) Перебор списка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12BD2685-7FAD-43DA-8E52-12448ADB83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0115" y="1189042"/>
            <a:ext cx="4891770" cy="5049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62932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E2CADC2-C69B-4B1B-9C7C-2E50A7E471BE}"/>
              </a:ext>
            </a:extLst>
          </p:cNvPr>
          <p:cNvSpPr txBox="1"/>
          <p:nvPr/>
        </p:nvSpPr>
        <p:spPr>
          <a:xfrm>
            <a:off x="945214" y="665822"/>
            <a:ext cx="89575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>
                <a:solidFill>
                  <a:schemeClr val="accent2"/>
                </a:solidFill>
              </a:rPr>
              <a:t>8) Сортировка и разворот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51D0C504-F18E-4206-990A-6762550E10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3794" y="1807501"/>
            <a:ext cx="9524411" cy="2622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18293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E2CADC2-C69B-4B1B-9C7C-2E50A7E471BE}"/>
              </a:ext>
            </a:extLst>
          </p:cNvPr>
          <p:cNvSpPr txBox="1"/>
          <p:nvPr/>
        </p:nvSpPr>
        <p:spPr>
          <a:xfrm>
            <a:off x="945214" y="665822"/>
            <a:ext cx="89575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>
                <a:solidFill>
                  <a:schemeClr val="accent2"/>
                </a:solidFill>
              </a:rPr>
              <a:t>9) Полезные агрегаты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426780C0-1EC6-4826-B14D-04D4B22669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0313" y="1904507"/>
            <a:ext cx="8804467" cy="25432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93398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E2CADC2-C69B-4B1B-9C7C-2E50A7E471BE}"/>
              </a:ext>
            </a:extLst>
          </p:cNvPr>
          <p:cNvSpPr txBox="1"/>
          <p:nvPr/>
        </p:nvSpPr>
        <p:spPr>
          <a:xfrm>
            <a:off x="945214" y="665822"/>
            <a:ext cx="89575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>
                <a:solidFill>
                  <a:schemeClr val="accent2"/>
                </a:solidFill>
              </a:rPr>
              <a:t>10) Строки ↔ списки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6EB1DF28-F6BE-4299-A95E-6E44D34ED4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7155" y="1884171"/>
            <a:ext cx="10273863" cy="1544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39289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E2CADC2-C69B-4B1B-9C7C-2E50A7E471BE}"/>
              </a:ext>
            </a:extLst>
          </p:cNvPr>
          <p:cNvSpPr txBox="1"/>
          <p:nvPr/>
        </p:nvSpPr>
        <p:spPr>
          <a:xfrm>
            <a:off x="1060624" y="585924"/>
            <a:ext cx="8957568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>
                <a:solidFill>
                  <a:schemeClr val="accent2"/>
                </a:solidFill>
              </a:rPr>
              <a:t>1) Удалить все нули</a:t>
            </a:r>
          </a:p>
          <a:p>
            <a:r>
              <a:rPr lang="ru-RU" sz="2800" dirty="0"/>
              <a:t>ТЗ: из списка убрать все 0, получить новый список.</a:t>
            </a:r>
          </a:p>
          <a:p>
            <a:endParaRPr lang="ru-RU" sz="2800" dirty="0"/>
          </a:p>
          <a:p>
            <a:r>
              <a:rPr lang="en-US" sz="2800" b="1" dirty="0">
                <a:solidFill>
                  <a:schemeClr val="accent2"/>
                </a:solidFill>
              </a:rPr>
              <a:t>data = [0, 3, 0, 4, 5, 0, 6]</a:t>
            </a:r>
            <a:endParaRPr lang="ru-RU" sz="2800" b="1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174984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F4FB8413-86EE-496A-B518-C7CDEBBEFD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5740" y="1319045"/>
            <a:ext cx="5283307" cy="3714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456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E2CADC2-C69B-4B1B-9C7C-2E50A7E471BE}"/>
              </a:ext>
            </a:extLst>
          </p:cNvPr>
          <p:cNvSpPr txBox="1"/>
          <p:nvPr/>
        </p:nvSpPr>
        <p:spPr>
          <a:xfrm>
            <a:off x="945214" y="665822"/>
            <a:ext cx="8957568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>
                <a:solidFill>
                  <a:schemeClr val="accent2"/>
                </a:solidFill>
              </a:rPr>
              <a:t>2) Найти индекс слова (если есть)</a:t>
            </a:r>
          </a:p>
          <a:p>
            <a:endParaRPr lang="ru-RU" sz="2800" dirty="0">
              <a:solidFill>
                <a:schemeClr val="accent2"/>
              </a:solidFill>
            </a:endParaRPr>
          </a:p>
          <a:p>
            <a:r>
              <a:rPr lang="ru-RU" sz="2800" dirty="0"/>
              <a:t>ТЗ: вывести индекс слова "кот", иначе написать «нет».</a:t>
            </a:r>
          </a:p>
          <a:p>
            <a:endParaRPr lang="ru-RU" sz="2800" b="1" dirty="0"/>
          </a:p>
          <a:p>
            <a:r>
              <a:rPr lang="en-US" sz="2800" b="1" dirty="0">
                <a:solidFill>
                  <a:schemeClr val="accent2"/>
                </a:solidFill>
              </a:rPr>
              <a:t>words = ["</a:t>
            </a:r>
            <a:r>
              <a:rPr lang="ru-RU" sz="2800" b="1" dirty="0">
                <a:solidFill>
                  <a:schemeClr val="accent2"/>
                </a:solidFill>
              </a:rPr>
              <a:t>пёс", "кот", "тигр"]</a:t>
            </a:r>
          </a:p>
          <a:p>
            <a:r>
              <a:rPr lang="en-US" sz="2800" b="1" dirty="0">
                <a:solidFill>
                  <a:schemeClr val="accent2"/>
                </a:solidFill>
              </a:rPr>
              <a:t>target = "</a:t>
            </a:r>
            <a:r>
              <a:rPr lang="ru-RU" sz="2800" b="1" dirty="0">
                <a:solidFill>
                  <a:schemeClr val="accent2"/>
                </a:solidFill>
              </a:rPr>
              <a:t>кот"</a:t>
            </a:r>
          </a:p>
        </p:txBody>
      </p:sp>
    </p:spTree>
    <p:extLst>
      <p:ext uri="{BB962C8B-B14F-4D97-AF65-F5344CB8AC3E}">
        <p14:creationId xmlns:p14="http://schemas.microsoft.com/office/powerpoint/2010/main" val="22967087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91E327EE-758B-415B-B725-7BB9CC440B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9109" y="989674"/>
            <a:ext cx="4993781" cy="4878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63491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E2CADC2-C69B-4B1B-9C7C-2E50A7E471BE}"/>
              </a:ext>
            </a:extLst>
          </p:cNvPr>
          <p:cNvSpPr txBox="1"/>
          <p:nvPr/>
        </p:nvSpPr>
        <p:spPr>
          <a:xfrm>
            <a:off x="945214" y="665822"/>
            <a:ext cx="8957568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>
                <a:solidFill>
                  <a:schemeClr val="accent2"/>
                </a:solidFill>
              </a:rPr>
              <a:t>3) Сколько раз встречается значение</a:t>
            </a:r>
          </a:p>
          <a:p>
            <a:endParaRPr lang="ru-RU" sz="2800" dirty="0">
              <a:solidFill>
                <a:schemeClr val="accent2"/>
              </a:solidFill>
            </a:endParaRPr>
          </a:p>
          <a:p>
            <a:r>
              <a:rPr lang="ru-RU" sz="2800" dirty="0"/>
              <a:t>ТЗ: посчитать, сколько раз число 5 встречается в списке.</a:t>
            </a:r>
          </a:p>
          <a:p>
            <a:endParaRPr lang="ru-RU" sz="2800" b="1" dirty="0"/>
          </a:p>
          <a:p>
            <a:r>
              <a:rPr lang="en-US" sz="2800" b="1" dirty="0">
                <a:solidFill>
                  <a:schemeClr val="accent2"/>
                </a:solidFill>
              </a:rPr>
              <a:t>marks = [5, 4, 5, 3, 5, 2]</a:t>
            </a:r>
          </a:p>
          <a:p>
            <a:r>
              <a:rPr lang="en-US" sz="2800" b="1" dirty="0" err="1">
                <a:solidFill>
                  <a:schemeClr val="accent2"/>
                </a:solidFill>
              </a:rPr>
              <a:t>cnt</a:t>
            </a:r>
            <a:r>
              <a:rPr lang="en-US" sz="2800" b="1" dirty="0">
                <a:solidFill>
                  <a:schemeClr val="accent2"/>
                </a:solidFill>
              </a:rPr>
              <a:t> = 0</a:t>
            </a:r>
            <a:endParaRPr lang="ru-RU" sz="2800" b="1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500177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98903F63-86CE-49FC-A471-A7C7339C7D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1175" y="1056410"/>
            <a:ext cx="5709649" cy="4745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706063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F2226A24-7A2F-4618-96D3-0C100F9FB0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253" y="1736461"/>
            <a:ext cx="10393493" cy="2418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460865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85592E3F-FB23-4386-A468-0EB652E74747}"/>
              </a:ext>
            </a:extLst>
          </p:cNvPr>
          <p:cNvSpPr/>
          <p:nvPr/>
        </p:nvSpPr>
        <p:spPr>
          <a:xfrm>
            <a:off x="1185171" y="767464"/>
            <a:ext cx="424796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>
                <a:solidFill>
                  <a:schemeClr val="accent2"/>
                </a:solidFill>
              </a:rPr>
              <a:t>Часть 1. «Список покупок» (35–45 мин)</a:t>
            </a:r>
          </a:p>
          <a:p>
            <a:r>
              <a:rPr lang="ru-RU" b="1" dirty="0">
                <a:solidFill>
                  <a:schemeClr val="accent2"/>
                </a:solidFill>
              </a:rPr>
              <a:t>Шаг 1 (5 мин). Каркас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B3452D5-20B6-4A0E-8B94-FB0856C4F5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5222" y="1786115"/>
            <a:ext cx="7221556" cy="3886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148592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65405A8D-8C6C-4C10-986D-0A07536240EB}"/>
              </a:ext>
            </a:extLst>
          </p:cNvPr>
          <p:cNvSpPr/>
          <p:nvPr/>
        </p:nvSpPr>
        <p:spPr>
          <a:xfrm>
            <a:off x="1185171" y="767464"/>
            <a:ext cx="7186472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>
                <a:solidFill>
                  <a:schemeClr val="accent2"/>
                </a:solidFill>
              </a:rPr>
              <a:t>Шаг 2 (10 мин). Маленькие проверки ввода</a:t>
            </a:r>
          </a:p>
          <a:p>
            <a:r>
              <a:rPr lang="ru-RU" dirty="0">
                <a:solidFill>
                  <a:schemeClr val="accent2"/>
                </a:solidFill>
              </a:rPr>
              <a:t>Игнорировать пустые строки и «одни пробелы».</a:t>
            </a:r>
          </a:p>
          <a:p>
            <a:r>
              <a:rPr lang="ru-RU" dirty="0">
                <a:solidFill>
                  <a:schemeClr val="accent2"/>
                </a:solidFill>
              </a:rPr>
              <a:t>Урезать повторяющиеся пробелы внутри (опционально).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E5593B4-7B4B-4831-8136-D95399DE8E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0114" y="2370001"/>
            <a:ext cx="5700910" cy="1536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642339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9B1FAB9A-A119-4428-880E-9506530E1FF8}"/>
              </a:ext>
            </a:extLst>
          </p:cNvPr>
          <p:cNvSpPr/>
          <p:nvPr/>
        </p:nvSpPr>
        <p:spPr>
          <a:xfrm>
            <a:off x="690579" y="545522"/>
            <a:ext cx="3227031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>
                <a:solidFill>
                  <a:schemeClr val="accent2"/>
                </a:solidFill>
              </a:rPr>
              <a:t>Шаг 3 (10–15 мин). Версия v2 — минимальные команды</a:t>
            </a:r>
          </a:p>
          <a:p>
            <a:r>
              <a:rPr lang="ru-RU" b="1" dirty="0">
                <a:solidFill>
                  <a:schemeClr val="accent2"/>
                </a:solidFill>
              </a:rPr>
              <a:t>Добавим три команды: </a:t>
            </a:r>
            <a:r>
              <a:rPr lang="ru-RU" b="1" dirty="0" err="1">
                <a:solidFill>
                  <a:schemeClr val="accent2"/>
                </a:solidFill>
              </a:rPr>
              <a:t>list</a:t>
            </a:r>
            <a:r>
              <a:rPr lang="ru-RU" b="1" dirty="0">
                <a:solidFill>
                  <a:schemeClr val="accent2"/>
                </a:solidFill>
              </a:rPr>
              <a:t>, </a:t>
            </a:r>
            <a:r>
              <a:rPr lang="ru-RU" b="1" dirty="0" err="1">
                <a:solidFill>
                  <a:schemeClr val="accent2"/>
                </a:solidFill>
              </a:rPr>
              <a:t>remove</a:t>
            </a:r>
            <a:r>
              <a:rPr lang="ru-RU" b="1" dirty="0">
                <a:solidFill>
                  <a:schemeClr val="accent2"/>
                </a:solidFill>
              </a:rPr>
              <a:t> N, </a:t>
            </a:r>
            <a:r>
              <a:rPr lang="ru-RU" b="1" dirty="0" err="1">
                <a:solidFill>
                  <a:schemeClr val="accent2"/>
                </a:solidFill>
              </a:rPr>
              <a:t>exit</a:t>
            </a:r>
            <a:r>
              <a:rPr lang="ru-RU" b="1" dirty="0">
                <a:solidFill>
                  <a:schemeClr val="accent2"/>
                </a:solidFill>
              </a:rPr>
              <a:t>.</a:t>
            </a:r>
            <a:endParaRPr lang="ru-RU" dirty="0">
              <a:solidFill>
                <a:schemeClr val="accent2"/>
              </a:solidFill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3E0353E3-6BD3-42FB-8AB8-4968890322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9213" y="56679"/>
            <a:ext cx="4401164" cy="6744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106474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EE6EAD1A-BD3F-4358-A357-AC3547CA12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7449" y="256192"/>
            <a:ext cx="9383434" cy="4143953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3C4EFD87-26AC-40A9-B985-DE181EC17F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0657" y="4400145"/>
            <a:ext cx="6670686" cy="1364459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9AB6FEBC-FC3F-4A9F-B179-8F61E1945B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80916" y="5980376"/>
            <a:ext cx="6030167" cy="419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862617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2B19F8E1-1B05-463B-BDDD-156C666B96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5678" y="719384"/>
            <a:ext cx="5463652" cy="514612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4A63CDFA-4856-4EC9-8D92-D37C10C3F6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9027" y="1407619"/>
            <a:ext cx="7694595" cy="3093360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B4142BF6-7247-4E33-882D-E87F44038D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02003" y="4741896"/>
            <a:ext cx="7468642" cy="1724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678424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ACC7247-750B-4311-8724-39D4399C66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159" y="578212"/>
            <a:ext cx="5001323" cy="552527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BC4035D3-0AB5-464D-934B-29D97DEFBD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159" y="1130739"/>
            <a:ext cx="7668695" cy="495369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54331017-878A-45B8-A0A4-00A5CAB42E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7932" y="2092131"/>
            <a:ext cx="4213100" cy="3635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262237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5BBC96F3-863E-4B7F-B319-CCAFBE05A6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398" y="597913"/>
            <a:ext cx="4420217" cy="495369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317F655-2A41-4218-89FA-BA3344FFFD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9097" y="1734293"/>
            <a:ext cx="6862105" cy="2012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348418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22D7F9B7-2A65-46B6-ACE8-1D76254A73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0033" y="621729"/>
            <a:ext cx="7144747" cy="447737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CBD2226-0F67-4E5B-A174-6705CD305C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3383" y="1554978"/>
            <a:ext cx="9779031" cy="1019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5278502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137</TotalTime>
  <Words>291</Words>
  <Application>Microsoft Office PowerPoint</Application>
  <PresentationFormat>Широкоэкранный</PresentationFormat>
  <Paragraphs>42</Paragraphs>
  <Slides>26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26</vt:i4>
      </vt:variant>
    </vt:vector>
  </HeadingPairs>
  <TitlesOfParts>
    <vt:vector size="30" baseType="lpstr">
      <vt:lpstr>Arial</vt:lpstr>
      <vt:lpstr>Calibri</vt:lpstr>
      <vt:lpstr>Calibri Light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Sokolov</dc:creator>
  <cp:lastModifiedBy>Satchel Killam</cp:lastModifiedBy>
  <cp:revision>13</cp:revision>
  <dcterms:created xsi:type="dcterms:W3CDTF">2025-10-19T14:16:18Z</dcterms:created>
  <dcterms:modified xsi:type="dcterms:W3CDTF">2025-12-21T18:22:10Z</dcterms:modified>
</cp:coreProperties>
</file>