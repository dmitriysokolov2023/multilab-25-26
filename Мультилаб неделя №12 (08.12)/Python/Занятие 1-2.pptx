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80" r:id="rId13"/>
    <p:sldId id="281" r:id="rId14"/>
    <p:sldId id="278" r:id="rId15"/>
    <p:sldId id="282" r:id="rId16"/>
    <p:sldId id="279" r:id="rId17"/>
    <p:sldId id="28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800" b="1" dirty="0"/>
              <a:t>Что такое список</a:t>
            </a:r>
          </a:p>
          <a:p>
            <a:r>
              <a:rPr lang="ru-RU" sz="2800" b="1" dirty="0">
                <a:solidFill>
                  <a:schemeClr val="accent2"/>
                </a:solidFill>
              </a:rPr>
              <a:t>Список (</a:t>
            </a:r>
            <a:r>
              <a:rPr lang="ru-RU" sz="2800" b="1" dirty="0" err="1">
                <a:solidFill>
                  <a:schemeClr val="accent2"/>
                </a:solidFill>
              </a:rPr>
              <a:t>list</a:t>
            </a:r>
            <a:r>
              <a:rPr lang="ru-RU" sz="2800" b="1" dirty="0">
                <a:solidFill>
                  <a:schemeClr val="accent2"/>
                </a:solidFill>
              </a:rPr>
              <a:t>) </a:t>
            </a:r>
            <a:r>
              <a:rPr lang="ru-RU" sz="2800" b="1" dirty="0"/>
              <a:t>— упорядоченная изменяемая коллекция элементов.</a:t>
            </a:r>
          </a:p>
          <a:p>
            <a:r>
              <a:rPr lang="ru-RU" sz="2800" b="1" dirty="0">
                <a:solidFill>
                  <a:schemeClr val="accent2"/>
                </a:solidFill>
              </a:rPr>
              <a:t>Хранит любые типы (желательно однотипные на практике).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EB34C02-EDDD-4298-8918-8CF7022D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33" y="3330976"/>
            <a:ext cx="3903292" cy="18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536841" y="656944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2) Создание списков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EFDBA9-D793-44BE-B442-BC2611B4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6" y="1606540"/>
            <a:ext cx="8124555" cy="18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1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3) Индексы и срезы</a:t>
            </a:r>
          </a:p>
          <a:p>
            <a:pPr marL="514350" indent="-514350">
              <a:buAutoNum type="arabicParenR"/>
            </a:pPr>
            <a:endParaRPr lang="ru-RU" sz="2800" b="1" dirty="0"/>
          </a:p>
          <a:p>
            <a:r>
              <a:rPr lang="ru-RU" sz="2800" b="1" dirty="0">
                <a:solidFill>
                  <a:schemeClr val="accent2"/>
                </a:solidFill>
              </a:rPr>
              <a:t>Индексы от 0 до </a:t>
            </a:r>
            <a:r>
              <a:rPr lang="ru-RU" sz="2800" b="1" dirty="0" err="1">
                <a:solidFill>
                  <a:schemeClr val="accent2"/>
                </a:solidFill>
              </a:rPr>
              <a:t>len</a:t>
            </a:r>
            <a:r>
              <a:rPr lang="ru-RU" sz="2800" b="1" dirty="0">
                <a:solidFill>
                  <a:schemeClr val="accent2"/>
                </a:solidFill>
              </a:rPr>
              <a:t>(a)-1</a:t>
            </a:r>
            <a:r>
              <a:rPr lang="ru-RU" sz="2800" b="1" dirty="0"/>
              <a:t>. Отрицательные — с конца (-1 — последний).</a:t>
            </a:r>
          </a:p>
          <a:p>
            <a:pPr marL="514350" indent="-514350">
              <a:buAutoNum type="arabicParenR"/>
            </a:pPr>
            <a:endParaRPr lang="ru-RU" sz="2800" b="1" dirty="0"/>
          </a:p>
          <a:p>
            <a:r>
              <a:rPr lang="ru-RU" sz="2800" b="1" dirty="0">
                <a:solidFill>
                  <a:schemeClr val="accent2"/>
                </a:solidFill>
              </a:rPr>
              <a:t>Срез a[</a:t>
            </a:r>
            <a:r>
              <a:rPr lang="ru-RU" sz="2800" b="1" dirty="0" err="1">
                <a:solidFill>
                  <a:schemeClr val="accent2"/>
                </a:solidFill>
              </a:rPr>
              <a:t>start:stop:step</a:t>
            </a:r>
            <a:r>
              <a:rPr lang="ru-RU" sz="2800" b="1" dirty="0">
                <a:solidFill>
                  <a:schemeClr val="accent2"/>
                </a:solidFill>
              </a:rPr>
              <a:t>] не включает </a:t>
            </a:r>
            <a:r>
              <a:rPr lang="ru-RU" sz="2800" b="1" dirty="0" err="1">
                <a:solidFill>
                  <a:schemeClr val="accent2"/>
                </a:solidFill>
              </a:rPr>
              <a:t>stop</a:t>
            </a:r>
            <a:r>
              <a:rPr lang="ru-RU" sz="2800" b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8828A3-32D2-4298-92FE-C84BF398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84" y="3514523"/>
            <a:ext cx="5166128" cy="2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4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4) </a:t>
            </a:r>
            <a:r>
              <a:rPr lang="ru-RU" sz="2800" b="1" dirty="0">
                <a:solidFill>
                  <a:schemeClr val="accent2"/>
                </a:solidFill>
              </a:rPr>
              <a:t>Изменяемость и копирование</a:t>
            </a:r>
          </a:p>
          <a:p>
            <a:r>
              <a:rPr lang="ru-RU" sz="2800" dirty="0"/>
              <a:t>Списки </a:t>
            </a:r>
            <a:r>
              <a:rPr lang="ru-RU" sz="2800" b="1" dirty="0"/>
              <a:t>изменяемые</a:t>
            </a:r>
            <a:r>
              <a:rPr lang="ru-RU" sz="2800" dirty="0"/>
              <a:t>: операции меняют объект на месте.</a:t>
            </a:r>
          </a:p>
          <a:p>
            <a:r>
              <a:rPr lang="ru-RU" sz="2800" dirty="0"/>
              <a:t>Простое присваивание делает </a:t>
            </a:r>
            <a:r>
              <a:rPr lang="ru-RU" sz="2800" b="1" dirty="0"/>
              <a:t>две ссылки на один объект</a:t>
            </a:r>
            <a:r>
              <a:rPr lang="ru-RU" sz="2800" dirty="0"/>
              <a:t>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67BC21-9CCD-41C1-932C-B2456D7F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610" y="2917674"/>
            <a:ext cx="5153579" cy="209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2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1176033" y="878886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Как скопировать: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E6282F9-25AC-4C0F-956D-FA840D6B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332" y="2214614"/>
            <a:ext cx="5320938" cy="185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1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5) Добавление/удаление элементов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D547C6-89AB-450A-93D1-CD5EFF94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68" y="1709497"/>
            <a:ext cx="8595250" cy="430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6) Поиск и проверка наличия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28DFE0-ED09-4CBD-AFAF-F8A4FEFB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41" y="2155435"/>
            <a:ext cx="10318337" cy="18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9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7) Перебор списка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BD2685-7FAD-43DA-8E52-12448ADB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15" y="1189042"/>
            <a:ext cx="4891770" cy="50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9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8) Сортировка и разворот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D0C504-F18E-4206-990A-6762550E1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94" y="1807501"/>
            <a:ext cx="9524411" cy="262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29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9) Полезные агрегаты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6780C0-1EC6-4826-B14D-04D4B2266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13" y="1904507"/>
            <a:ext cx="8804467" cy="25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3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10) Строки ↔ списки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B1DF28-F6BE-4299-A95E-6E44D34E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55" y="1884171"/>
            <a:ext cx="10273863" cy="15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1060624" y="585924"/>
            <a:ext cx="8957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1) Удалить все нули</a:t>
            </a:r>
          </a:p>
          <a:p>
            <a:r>
              <a:rPr lang="ru-RU" sz="2800" dirty="0"/>
              <a:t>ТЗ: из списка убрать все 0, получить новый список.</a:t>
            </a:r>
          </a:p>
          <a:p>
            <a:endParaRPr lang="ru-RU" sz="2800" dirty="0"/>
          </a:p>
          <a:p>
            <a:r>
              <a:rPr lang="en-US" sz="2800" b="1" dirty="0">
                <a:solidFill>
                  <a:schemeClr val="accent2"/>
                </a:solidFill>
              </a:rPr>
              <a:t>data = [0, 3, 0, 4, 5, 0, 6]</a:t>
            </a:r>
            <a:endParaRPr lang="ru-R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49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B8413-86EE-496A-B518-C7CDEBBEF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740" y="1319045"/>
            <a:ext cx="5283307" cy="371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2) Найти индекс слова (если есть)</a:t>
            </a:r>
          </a:p>
          <a:p>
            <a:endParaRPr lang="ru-RU" sz="2800" dirty="0">
              <a:solidFill>
                <a:schemeClr val="accent2"/>
              </a:solidFill>
            </a:endParaRPr>
          </a:p>
          <a:p>
            <a:r>
              <a:rPr lang="ru-RU" sz="2800" dirty="0"/>
              <a:t>ТЗ: вывести индекс слова "кот", иначе написать «нет».</a:t>
            </a:r>
          </a:p>
          <a:p>
            <a:endParaRPr lang="ru-RU" sz="2800" b="1" dirty="0"/>
          </a:p>
          <a:p>
            <a:r>
              <a:rPr lang="en-US" sz="2800" b="1" dirty="0">
                <a:solidFill>
                  <a:schemeClr val="accent2"/>
                </a:solidFill>
              </a:rPr>
              <a:t>words = ["</a:t>
            </a:r>
            <a:r>
              <a:rPr lang="ru-RU" sz="2800" b="1" dirty="0">
                <a:solidFill>
                  <a:schemeClr val="accent2"/>
                </a:solidFill>
              </a:rPr>
              <a:t>пёс", "кот", "тигр"]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target = "</a:t>
            </a:r>
            <a:r>
              <a:rPr lang="ru-RU" sz="2800" b="1" dirty="0">
                <a:solidFill>
                  <a:schemeClr val="accent2"/>
                </a:solidFill>
              </a:rPr>
              <a:t>кот"</a:t>
            </a:r>
          </a:p>
        </p:txBody>
      </p:sp>
    </p:spTree>
    <p:extLst>
      <p:ext uri="{BB962C8B-B14F-4D97-AF65-F5344CB8AC3E}">
        <p14:creationId xmlns:p14="http://schemas.microsoft.com/office/powerpoint/2010/main" val="229670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E327EE-758B-415B-B725-7BB9CC44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109" y="989674"/>
            <a:ext cx="4993781" cy="487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49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3) Сколько раз встречается значение</a:t>
            </a:r>
          </a:p>
          <a:p>
            <a:endParaRPr lang="ru-RU" sz="2800" dirty="0">
              <a:solidFill>
                <a:schemeClr val="accent2"/>
              </a:solidFill>
            </a:endParaRPr>
          </a:p>
          <a:p>
            <a:r>
              <a:rPr lang="ru-RU" sz="2800" dirty="0"/>
              <a:t>ТЗ: посчитать, сколько раз число 5 встречается в списке.</a:t>
            </a:r>
          </a:p>
          <a:p>
            <a:endParaRPr lang="ru-RU" sz="2800" b="1" dirty="0"/>
          </a:p>
          <a:p>
            <a:r>
              <a:rPr lang="en-US" sz="2800" b="1" dirty="0">
                <a:solidFill>
                  <a:schemeClr val="accent2"/>
                </a:solidFill>
              </a:rPr>
              <a:t>marks = [5, 4, 5, 3, 5, 2]</a:t>
            </a:r>
          </a:p>
          <a:p>
            <a:r>
              <a:rPr lang="en-US" sz="2800" b="1" dirty="0" err="1">
                <a:solidFill>
                  <a:schemeClr val="accent2"/>
                </a:solidFill>
              </a:rPr>
              <a:t>cnt</a:t>
            </a:r>
            <a:r>
              <a:rPr lang="en-US" sz="2800" b="1" dirty="0">
                <a:solidFill>
                  <a:schemeClr val="accent2"/>
                </a:solidFill>
              </a:rPr>
              <a:t> = 0</a:t>
            </a:r>
            <a:endParaRPr lang="ru-R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01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903F63-86CE-49FC-A471-A7C7339C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175" y="1056410"/>
            <a:ext cx="5709649" cy="47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06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227</Words>
  <Application>Microsoft Office PowerPoint</Application>
  <PresentationFormat>Широкоэкранный</PresentationFormat>
  <Paragraphs>35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Satchel Killam</cp:lastModifiedBy>
  <cp:revision>12</cp:revision>
  <dcterms:created xsi:type="dcterms:W3CDTF">2025-10-19T14:16:18Z</dcterms:created>
  <dcterms:modified xsi:type="dcterms:W3CDTF">2025-12-07T17:39:55Z</dcterms:modified>
</cp:coreProperties>
</file>